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09728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4937760"/>
            <a:ext cx="640080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914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随机数生成器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RNG 全面解析 — 硬件设计与算法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TRNG 电路架构 · PRNG 算法对比 · CSPRNG 标准 · 后处理技术 · 2025 前沿趋势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2025年6月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RNG 三大类别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随机数生成器的分类与核心差异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真随机数生成器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基于物理过程的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本质不确定性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环形振荡器抖动 / 亚稳态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放射性衰变 / 量子光学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不可预测、不可复现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需专用硬件电路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554480"/>
            <a:ext cx="26974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伪随机数生成器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651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确定性算法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种子值生成序列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LCG / MT19937 / Xorshift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PCG / LFSR / 混沌映射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可复现、速度极快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非密码学用途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554480"/>
            <a:ext cx="26974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55448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828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CSPRNG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26364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密码学安全 PRNG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651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PRNG + 密码学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安全属性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200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ChaCha20 / AES-CTR DRBG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BLAKE3 / Fortuna / SHA-2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前向+后向安全性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NIST SP 800-90A 标准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TRNG 硬件设计（一）：环形振荡器与抖动采样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利用半导体热噪声导致时钟边沿随机抖动 — 最成熟的 TRNG 架构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基本原理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奇数个反相器组成自由振荡环路 → 频率由门延迟决定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热噪声导致每个边沿到达时间随机偏移（Jitter）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慢速时钟通过 DFF 采样快速 RO，捕获抖动不确定性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经典方案（Sunar 2007）：多 RO + XOR 输出放大熵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25880"/>
            <a:ext cx="4114800" cy="14630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25880"/>
            <a:ext cx="54864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需累积数百至数千周期抖动 → 吞吐率仅 ~1 Mbps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等长环路容易相位锁定 → 振荡器间产生相关性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对温度/电压变化敏感 → 需校准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手工布局布线限制 → FPGA 可移植性差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017520"/>
            <a:ext cx="8503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17520"/>
            <a:ext cx="54864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063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ADPLL-TRNG（2025）— FIR 数字滤波器全数字锁相环架构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38328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平台：Artix-7 (XC7A35T)  |  功耗：0.072 W  |  吞吐率：200 Mbps  |  后处理：XOR-corrector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创新点：用 Kaiser 窗 FIR 低通滤波器替代传统模拟环路滤波器，抖动频谱整形效果优于经典 PLL 方案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经典环形振荡器 TRNG 方案对比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572000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097280"/>
                <a:gridCol w="91440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熵源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资源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特点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Sunar RO (2007)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 RO 抖动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~1 Mbps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XOR 合并多 RO 输出，经典基线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高速 RO + LFSR (2025)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DFF 亚稳态采样 + LFSR 白化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300 Mbps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108 LUTs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8/16/24/32 RO 可配置，Artix-7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ADPLL-TRNG (2025)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全数字 PLL 噪声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 Mbps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Artix-7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FIR 环路滤波，0.072W 超低功耗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TRNG 硬件设计（二）：亚稳态架构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强制触发器进入亚稳态，利用热噪声决定最终输出 — 新一代主流方法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亚稳态原理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 DFF 的 Setup/Hold 时间被违反 → 输出进入亚稳态（不稳定平衡态）→ 热噪声决定最终稳定到 0 还是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关键挑战：自然亚稳态事件稀少。解决方案 → 主动构造电路迫使每次操作都产生亚稳态（故意违反对时序约束）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优势：仅需几个振荡周期即可产生随机位（vs. 抖动方案需数百/数千周期），大幅提升吞吐率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56032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60320"/>
            <a:ext cx="41148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Meta-RO（CHES 2008）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99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Samsung — Vasyltsov, Kim &amp; Karpinskyy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结构：环中每个反相器可断开+短路 → 收敛到亚稳态电压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工作两阶段：① 亚稳态模式（各节点独立噪声源）→ ② 生成模式（重连为 RO）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仅需几个振荡周期 vs. 抖动法需数百周期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吞吐率：35–140 Mbps  |  65nm ASIC  |  ~1 μm²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AIS.31 / FIPS 140 认证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2560320"/>
            <a:ext cx="41148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560320"/>
            <a:ext cx="41148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TERO（CHES 2010）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9992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Varchola &amp; Drutarovsky — 瞬态效应环形振荡器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32461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结构：XOR-AND-XOR-AND 双稳环路，受控边沿激励产生瞬态振荡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每次激励的振荡次数因固有噪声随机变化 → T-FF 判断奇偶 → 输出 1-bit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创新：熵源是亚稳态解析的振荡轨迹，非仅最终稳态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比传统 RO 对全局扰动敏感度更低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极紧凑：仅需 1 CLB（Spartan-3E）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TRNG 硬件设计（三）：混合熵源与新型架构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2024-2025 年顶级会议/期刊发表的最新技术方案 — 双熵源融合 + 无需后处理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45720" cy="6217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61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SSRO-TRNG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Integration VLSI Journal, 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103120" y="1161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Mbps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1435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LUTs + 13 DFFs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383280" y="1216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状态可切换环形振荡器。FF 亚稳态控制 SSRO 在「振荡」和「缓冲」状态间随机切换。反馈策略消除不动点，增强振荡复杂度。原始输出直接通过 NIST/AIS-31，无需后处理。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856232"/>
            <a:ext cx="8503920" cy="62179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856232"/>
            <a:ext cx="45720" cy="62179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DS-TRNG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Microelectronics Journal, 2024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103120" y="1874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Mbps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03120" y="2148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 LUTs + 4 FFs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83280" y="19293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DEMUX 的双路径切换 TRNG。分离「抖动累积」和「亚稳态发生」到两条并行路径，缩短操作周期。RO 控制路径切换时序 → 切换本身也引入不确定性。min-entropy：0.9955。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69464"/>
            <a:ext cx="85039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569464"/>
            <a:ext cx="45720" cy="6217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587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MRO-TRNG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28620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Microelectronics Journal, 2024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103120" y="2587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Mbps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28620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LUTs + 2 DFFs + 1 MUX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383280" y="264261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MUX 环形振荡器 TRNG。利用 MUX + 路径延迟差异动态转换 MRO 频率。仅需 10 LUTs + 2 DFFs，是已知最紧凑的双熵源设计。XOR 后处理。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282696"/>
            <a:ext cx="8503920" cy="621792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3282696"/>
            <a:ext cx="45720" cy="6217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Galois-LFSR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575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Microelectronics Journal, 2025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103120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Mbps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03120" y="357530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LUTs + 9 DFFs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383280" y="335584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Galois LFSR + 动态反馈路径。反相器 + 2-to-1 MUX 动态改变 LFSR 反馈路径，融合抖动+亚稳态。通过 NIST SP800-90B 和 AIS-31。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3995928"/>
            <a:ext cx="850392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3995928"/>
            <a:ext cx="45720" cy="6217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0142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Multi-Cell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4360" y="42885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Integration VLSI Journal, 2025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103120" y="4014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433 Mbps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103120" y="4288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LUTs + 10 DFFs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83280" y="4069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多单元选择器时钟驱动 + XOR 反馈。多个 RO 产生故意频率失配的时钟/数据 → 强制 DFF 亚稳态。级联 XOR 反馈放大熵。通过 TestU01。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TRNG 后处理技术 &amp; 新型熵源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后处理（Post-Processing）技术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85039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097280"/>
                <a:gridCol w="13716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操作方式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偏差消除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吞吐率代价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von Neumann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01→1, 10→0, 00/11→丢弃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完全消除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≥75% 损失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低速率容忍场景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XOR 校正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 = X₁⊕X₂⊕...⊕Xw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偏差 b→2b²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无损失（需多源）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多熵源组合（最常用）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LFSR 白化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线性反馈移位寄存器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良好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低延迟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高速 TRNG + FPGA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密码学哈希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SHA-256 / AES / PRESENT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鲁棒消除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1-10 pJ/bit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高安全要求场景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278892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趋势：顶级设计（SSRO、DS-TRNG、Multi-Cell）已实现「原始输出直接通过 NIST 测试，无需后处理」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新型熵源：超越传统电子噪声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量子光学 QRNG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4028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光子通过分束器 → 透射/反射由量子力学决定，理论上绝对不可预测。ID Quantique 已商用。IBM/Google 积极布局，预计 2026 年速率达 100 Mbps+。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17720" y="3611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忆阻器 RTN 噪声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37960" y="3611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TiOx/Al₂O₃ 忆阻器的随机电报噪声（RTN），捕获/发射时间随机。2025 年实现偏置无关设计（边沿检测+N位计数器），解决传统偏置敏感问题。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0040" y="4270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模拟混沌 Tent Map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40280" y="4270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晶体管 Tent Map 单元 × 4 环形拓扑，65nm CMOS 仅 160 μm²，19.68 μW，0.787 pJ/bit。源跟随器消除级间干扰，无需精确同步时钟。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617720" y="4270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ABN 自治布尔网络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37960" y="427024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节点耦合布尔网络 + 不平衡 RO + 3 输入 XOR，Lyapunov 指数为正（混沌态），熵率 0.9963 bps。当前 FPGA TRNG 吞吐率记录：750 Mbps（2025）。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伪随机数生成器 (PRNG)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确定性算法 + 种子 → 看似随机的序列 | Xₙ₊₁ = f(Xₙ, seed)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097280"/>
                <a:gridCol w="118872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算法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周期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统计质量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LCG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线性同余法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≈ 2³²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★★☆☆☆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教学 / 简单应用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Mersenne Twister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MT19937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2¹⁹⁹³⁷−1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游戏 / Python/R/MATLAB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Xorshift / Xoroshiro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2¹²⁸−1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高性能场景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PCG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2⁶⁴~2¹²⁸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现代通用 PRNG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LFSR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2ⁿ−1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硬件实现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混沌映射类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Logistic/Tent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可变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2024-2025 研究热点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选择建议：大规模模拟 → MT19937 | 高性能 → Xorshift | 现代通用 → PCG | 密码学 → 请使用 CSPRNG！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密码学安全 PRNG (CSPRNG)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前向安全性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即使攻击者知道当前状态，也无法推算之前生成的随机数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后向安全性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即使攻击者知道当前状态，也无法预测未来的随机数输出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 CSPRNG 算法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ChaCha20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Google 力推，性能极佳，移动端友好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3558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AES-CTR DRBG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355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 AES 加速支持，NIST 标准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7398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BLAKE3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739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趋势，速度比 SHA-2 快 50%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239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SHA-2/3 DRBG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1239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通用性强，广泛验证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507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Fortuna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507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多熵源积累，操作系统广泛采用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2468880"/>
            <a:ext cx="3840480" cy="22860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246888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5212080" y="2606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关键原则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12080" y="301752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PRNG 绝不能单独用于密码学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必须用 TRNG/熵源为 CSPRNG 播种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弱随机数是安全漏洞的根源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案例：Sony PS3 ECDSA nonce 复用导致签名密钥泄露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标准：NIST SP 800-90A / BSI AIS-20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2024-2025 前沿趋势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从学术论文到产业落地的关键技术方向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91440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混合双熵源 TRNG（Jitter + Metastability）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SSRO、DS-TRNG、MRO-TRNG 等设计融合两种熵源于一体，实现 300-500 Mbps 吞吐率，资源&lt;50 LUTs，原始输出直接通过 NIST/AIS-31 测试。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023360" cy="91440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554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无需后处理（Post-Processing-Free）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年顶级 TRNG 设计（SSRO、DPRR、Multi-Cell）在原始输出层面即通过全部统计测试，消除后处理带来的吞吐率损失，是学界核心攻关目标。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4023360" cy="91440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神经网络驱动 PRNG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RNN/LSTM、GAN、深度强化学习三类方法。利用网络非线性与单向性难以逆向求种子。2025 综述论文系统分类。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023360" cy="91440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651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量子随机数生成 (QRNG)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321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利用光子分束、纠缠态等量子本质不确定性。IBM/Google 投入研发，预计 2026 年大规模商用，速率有望达 100 Mbps+。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023360" cy="91440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忆阻器 + 混沌电路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忆阻器 RTN 偏置无关设计（2025）；模拟混沌 Tent Map（0.787 pJ/bit，160μm²）；ABN 混沌网络（750 Mbps 纪录保持者）。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4023360" cy="914400"/>
          </a:xfrm>
          <a:prstGeom prst="rect">
            <a:avLst/>
          </a:prstGeom>
          <a:solidFill>
            <a:srgbClr val="111D32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749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区块链可验证随机函数 (VRF)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4069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Chainlink VRF 为数百个 DeFi 项目提供可验证链上随机数，解决预言机信任问题。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随机数质量评估标准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4864" cy="56692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SP 800-22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NIST  |  15 大项 188 小项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全球公认标准，含单比特、游程、DFT、矩阵秩、熵等测试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993392"/>
            <a:ext cx="54864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93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NIST SP 800-90B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2494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NIST  |  熵源验证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19933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专用于熵源评估：独立/最近邻/马尔可夫/LZ 压缩等 min-entropy 估计方法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06624"/>
            <a:ext cx="54864" cy="5669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TestU01 / BigCrush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96265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学术界  |  160+ 项测试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270662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 NIST 更严格。MT19937 也未全部通过（3 项失败）。TRNG 黄金标准。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419856"/>
            <a:ext cx="54864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198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BSI AIS-20/31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6758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德国 BSI  |  K1-K4 功能等级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0" y="341985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K1/K2：统计质量 | K3/K4：密码安全。可抵抗≤20年计算能力的攻击。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4059936"/>
            <a:ext cx="8412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33088"/>
            <a:ext cx="54864" cy="5669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1330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GM/T 0005-2021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4389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中国国家密码管理局  |  随机性检测规范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1330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适用于商用密码产品检测认证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核心原则：统计测试只能拒绝「非随机」假设，不能证明随机性。理解熵源物理本质同样重要。TRNG 还需要温度/电压/重启鲁棒性测试。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应用领域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RNG 广泛渗透于现代计算机科学与工程的各个层面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密钥生成 · IV/Nonce · 数字签名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握手 · Salt 值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游戏开发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随机事件触发 · 怪物属性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掉落概率 · 程序化地图生成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463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蒙特卡洛模拟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金融风险评估 · 量子物理计算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分子动力学 · 期权定价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46304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554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权重初始化 · Dropout 正则化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数据增强 · 超参数搜索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200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 / Web3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链上随机数 · DeFi 抽奖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NFT 铸造 · 共识随机选择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68880" y="3200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46888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60604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通信仿真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0604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信道衰落模拟 · 误码率测试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噪声生成 · 信号检测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200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1772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75488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统计学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5488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随机抽样 · Bootstrap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假设检验 · A/B 测试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3200400"/>
            <a:ext cx="2011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766560" y="3291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03720" y="3703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科研计算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39776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可复现实验 · 随机化对照试验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数值分析 · 优化算法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如何选择 RNG？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× 硬件资源 × 安全需求 — 三维决策框架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716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TRNG（轻量级）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91840" y="13716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SSRO / MRO-TRNG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371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&lt;50 LUTs，300-400 Mbps，无需后处理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54864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47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TRNG（高吞吐率）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91840" y="1847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ABN 混沌 / Multi-Cell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8470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433-750 Mbps，适合数据中心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54864" cy="38404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3225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ASIC/芯片 TRNG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91840" y="232257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Meta-RO / TERO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极低面积（~1μm²），工艺成熟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98064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7980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IoT 超低功耗 TRNG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91840" y="279806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Tent Map 混沌电路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7980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0.787 pJ/bit，160μm²，65nm CMOS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73552"/>
            <a:ext cx="54864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27355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高安全性密钥生成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327355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QRNG / TRNG + CSPRNG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2735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量子真随机播种 → CSPRNG 扩展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54864" cy="38404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需要可复现结果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91840" y="3749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PRNG + 固定种子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749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MT19937 / PCG / Xorshift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24528"/>
            <a:ext cx="54864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245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区块链链上随机数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91840" y="42245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Chainlink VRF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422452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可验证随机函数，防作弊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6576"/>
          </a:xfrm>
          <a:prstGeom prst="rect">
            <a:avLst/>
          </a:prstGeom>
          <a:solidFill>
            <a:srgbClr val="06B6D4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7365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核心理念：理解熵源物理 → 选择匹配架构 → 后处理消除偏差 → 统计测试验证 → 鲁棒性评估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随机数生成器（RNG）全面解析</dc:title>
  <dc:subject>PptxGenJS Presentation</dc:subject>
  <dc:creator>Claude Code</dc:creator>
  <cp:lastModifiedBy>Claude Code</cp:lastModifiedBy>
  <cp:revision>1</cp:revision>
  <dcterms:created xsi:type="dcterms:W3CDTF">2026-06-25T06:23:52Z</dcterms:created>
  <dcterms:modified xsi:type="dcterms:W3CDTF">2026-06-25T06:23:52Z</dcterms:modified>
</cp:coreProperties>
</file>
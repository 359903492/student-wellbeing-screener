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40080"/>
            <a:ext cx="457200" cy="457200"/>
          </a:xfrm>
          <a:prstGeom prst="rect">
            <a:avLst/>
          </a:prstGeom>
          <a:solidFill>
            <a:srgbClr val="00A8CC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4023360"/>
            <a:ext cx="457200" cy="457200"/>
          </a:xfrm>
          <a:prstGeom prst="rect">
            <a:avLst/>
          </a:prstGeom>
          <a:solidFill>
            <a:srgbClr val="2176A1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7315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 31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随机数生成器</a:t>
            </a:r>
            <a:endParaRPr lang="en-US" sz="4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功能等级标准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97280" y="31089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教学讲解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97280" y="3703320"/>
            <a:ext cx="1371600" cy="27432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9319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Proposal for Functionality Classes for Random Number Generators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2.35 DRAFT — BSI (德国联邦信息安全办公室)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A8C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文档概述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645920" cy="484632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文档全称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1097280"/>
            <a:ext cx="621792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68880" y="109728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Proposal for Functionality Classes for Random Number Generators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55064"/>
            <a:ext cx="1645920" cy="484632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655064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31720" y="1655064"/>
            <a:ext cx="621792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655064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Matthias Peter &amp; Werner Schindler (BSI)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212848"/>
            <a:ext cx="1645920" cy="484632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212848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31720" y="2212848"/>
            <a:ext cx="621792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68880" y="2212848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2.35 — DRAFT (2022年9月)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70632"/>
            <a:ext cx="1645920" cy="484632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770632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31720" y="2770632"/>
            <a:ext cx="621792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68880" y="2770632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239 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28416"/>
            <a:ext cx="1645920" cy="484632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328416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31720" y="3328416"/>
            <a:ext cx="621792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68880" y="3328416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德国 Common Criteria 认证体系中 AIS 20/31 的数学技术参考文档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1645920" cy="484632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88620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31720" y="3886200"/>
            <a:ext cx="621792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468880" y="388620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合并更新了 AIS 20 (确定性RNG) 和 AIS 31 (物理真随机数生成器)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AIS 31 随机数生成器功能等级标准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为什么需要 RNG 安全评估？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457200" cy="45720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88720" y="1097280"/>
            <a:ext cx="7406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720" y="1097280"/>
            <a:ext cx="54864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1430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密码应用的基础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44475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会话密钥、签名参数、Nonces、挑战值、盲化与掩码值 — 几乎所有密码操作都依赖随机数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2057400"/>
            <a:ext cx="7406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88720" y="2057400"/>
            <a:ext cx="54864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21031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弱RNG的后果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40487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弱随机数生成器可决定性地削弱整个密码应用的安全性，导致密钥可预测、签名可伪造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8720" y="3017520"/>
            <a:ext cx="7406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88720" y="3017520"/>
            <a:ext cx="54864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20" name="Text 18"/>
          <p:cNvSpPr/>
          <p:nvPr/>
        </p:nvSpPr>
        <p:spPr>
          <a:xfrm>
            <a:off x="1417320" y="30632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20年评估传统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336499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德国 Common Criteria 体系约 20 年来一直使用 AIS 20/31 作为 RNG 安全评估标准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88720" y="3977640"/>
            <a:ext cx="7406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88720" y="3977640"/>
            <a:ext cx="54864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26" name="Text 24"/>
          <p:cNvSpPr/>
          <p:nvPr/>
        </p:nvSpPr>
        <p:spPr>
          <a:xfrm>
            <a:off x="1417320" y="40233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三方受众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432511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本文档面向开发者（设计指导）、评估者（评估依据）和认证机构（认证标准）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AIS 31 随机数生成器功能等级标准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RNG 三大分类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9748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确定性随机数生成器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103120"/>
            <a:ext cx="731520" cy="228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3317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将短随机种子"扩展"为长序列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总熵 ≤ 种子熵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计算安全性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例: NIST SP800-90A DRBG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97280"/>
            <a:ext cx="2697480" cy="54864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7A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PTRNG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物理真随机数生成器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2103120"/>
            <a:ext cx="731520" cy="2286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23317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基于物理噪声源产生随机比特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可精确估计熵值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信息论安全性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例: 环形振荡器、齐纳二极管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97280"/>
            <a:ext cx="2697480" cy="54864"/>
          </a:xfrm>
          <a:prstGeom prst="rect">
            <a:avLst/>
          </a:prstGeom>
          <a:solidFill>
            <a:srgbClr val="9B6B2C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6B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NPTRNG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5508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非物理真随机数生成器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2103120"/>
            <a:ext cx="731520" cy="22860"/>
          </a:xfrm>
          <a:prstGeom prst="rect">
            <a:avLst/>
          </a:prstGeom>
          <a:solidFill>
            <a:srgbClr val="9B6B2C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3317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从非物理噪声源收集熵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难以精确估计熵值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跨平台运行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例: Linux /dev/random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AIS 31 随机数生成器功能等级标准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六大功能等级总览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1371600"/>
                <a:gridCol w="100584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类别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等级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类型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安全强度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DRG.2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确定性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基础级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适用于不需要新鲜熵保证的应用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DRG.3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确定性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增强级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增加增强后向保密 + 种子树结构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DRG.4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混合型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最高级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混合DRNG: 密码学后处理带记忆 + 持续熵刷新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PTRNG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PTG.2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物理真随机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基础级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随机模型 + 在线/总失效测试, 可选非密码学后处理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PTRNG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PTG.3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物理真随机(混合)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最强级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密码学后处理(带记忆), 整体安全性最强的等级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NPTRNG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NTG.1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非物理真随机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跨平台熵收集, 以 min-entropy 量化安全性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251960"/>
            <a:ext cx="8412480" cy="320040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注: DRG.1 和 PTG.1 已在 v2.35 中取消。DRG.4、PTG.3、NTG.1 均为混合型 RNG (Hybrid RNG)。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AIS 31 随机数生成器功能等级标准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DRG.2 — 确定性RNG基础等级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核心要求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731520" cy="2286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43891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种子由 TRNG 生成 (PTG.2/PTG.3/NTG.1)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两次种子间最多 2⁴⁸ 次请求，单次 ≤ 2¹⁹ bits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有效内部状态 ≥ 252 bits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初始内部状态: min-entropy ≥ 240 bits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或 Shannon 熵 ≥ 250 bits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前向保密 + 后向保密 (内部随机数粒度)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状态转移函数 ϕ 或输出函数 ψ 是密码学的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统计测试无法区分内部随机数与理想RNG输出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0" y="1005840"/>
            <a:ext cx="34747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03520" y="1005840"/>
            <a:ext cx="347472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1051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DRG.2 适用场景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32120" y="164592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不需要保证新鲜熵的密码应用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一般安全级别的密钥生成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Nonces 与挑战值生成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不需要原子性请求保证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AIS 31 随机数生成器功能等级标准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DRG.3 — 确定性RNG增强等级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DRG.2 已有要求 (继承)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种子安全要求 (DRG.2.1)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请求限制 (DRG.2.2)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内部状态大小 (DRG.2.3)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初始熵要求 (DRG.2.4)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前向/后向保密 (DRG.2.5/6)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统计不可区分性 (DRG.2.9)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023360" cy="36576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DRG.3 新增/增强要求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增强后向保密 (请求粒度)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ϕ 和 ψ 都必须是密码学的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ϕ 必须是单向函数 (One-Way)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支持种子树结构 (高度限制)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种子可由另一 DRNG 提供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根DRNG必须用TRNG种子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8229600" cy="6400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种子树结构: 根 DRNG (TRNG种子) → 子 DRNG → 孙 DRNG ... 支持逐级种子传递，减轻认证负担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AIS 31 随机数生成器功能等级标准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DRG.4 — 混合型确定性RNG (最高级)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73152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515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DRG.4 是混合型 RNG (Hybrid RNG)：结合了 DRNG 的计算安全性和 TRNG 的信息论安全性，通过持续熵输入刷新内部状态。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11680"/>
            <a:ext cx="2606040" cy="54864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密码学后处理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必须使用带记忆的密码学后处理算法，确保即使部分内部状态泄露也难以回溯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201168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2011680"/>
            <a:ext cx="2606040" cy="54864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20440" y="2743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持续熵刷新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3063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输出由熵输入持续刷新，防止内部状态因长时间运行而熵耗尽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01168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011680"/>
            <a:ext cx="2606040" cy="54864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09360" y="2743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全DRG.3基础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3063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继承DRG.3全部要求（增强后向保密、单向函数状态转移、种子树等）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AIS 31 随机数生成器功能等级标准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PTG.2 — 物理真随机数生成器基础等级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4864" cy="5943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随机模型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307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必须有正式的随机模型描述噪声源的随机特性，是PTRNG评估的核心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" cy="59436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平稳性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039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原始随机数满足时间局部平稳性 (time-local stationarity)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54864" cy="594360"/>
          </a:xfrm>
          <a:prstGeom prst="rect">
            <a:avLst/>
          </a:prstGeom>
          <a:solidFill>
            <a:srgbClr val="9B6C2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在线测试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770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有效的在线测试和总失效测试，实时监控噪声源质量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4864" cy="594360"/>
          </a:xfrm>
          <a:prstGeom prst="rect">
            <a:avLst/>
          </a:prstGeom>
          <a:solidFill>
            <a:srgbClr val="7B3A6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熵要求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502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Shannon熵每比特 &gt; 0.9998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 min-entropy 每比特 &gt; 0.98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4864" cy="594360"/>
          </a:xfrm>
          <a:prstGeom prst="rect">
            <a:avLst/>
          </a:prstGeom>
          <a:solidFill>
            <a:srgbClr val="3A6B7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后处理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233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可选用非密码学后处理 (如 Von Neumann 去偏、固定压缩率)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1051560"/>
            <a:ext cx="3749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1208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PTG.2 数据流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60720" y="1600200"/>
            <a:ext cx="2011680" cy="4114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物理噪声源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2011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2194560"/>
            <a:ext cx="2011680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2606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2788920"/>
            <a:ext cx="2011680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0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在线测试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32004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60720" y="3383280"/>
            <a:ext cx="2011680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后处理(可选)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37947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60720" y="3977640"/>
            <a:ext cx="2011680" cy="41148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4" name="Text 32"/>
          <p:cNvSpPr/>
          <p:nvPr/>
        </p:nvSpPr>
        <p:spPr>
          <a:xfrm>
            <a:off x="5760720" y="3977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AIS 31 随机数生成器功能等级标准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PTG.3 — 最高安全等级 (混合型PTRNG)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PTG.3 是整体安全性最强的功能等级，适用于最高安全需求的密码应用（如长期密钥生成、高安全签名等）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PTG.2 基础要求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随机模型 (强制)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时间局部平稳性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在线测试 + 总失效测试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启动测试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PTG.3 新增要求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21031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密码学后处理 (强制, 带记忆)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支持多种熵声明方式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可声明特定熵界 (更灵活)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内部随机数增强要求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977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PTG.3 熵声明选项: ① Shannon 熵每比特 &gt; 0.9998  ② min-entropy 每比特 &gt; 0.98  ③ PTRNG 特定熵界 (如基于随机模型计算的精确熵界)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AIS 31 随机数生成器功能等级标准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NTG.1 — 非物理真随机数生成器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365760"/>
          </a:xfrm>
          <a:prstGeom prst="rect">
            <a:avLst/>
          </a:prstGeom>
          <a:solidFill>
            <a:srgbClr val="9B6B2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NTG.1 特点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熵源不受设计者控制 (跨平台)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难以精确估计熵值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min-entropy 量化每比特熵下界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同样需要在线测试 + 总失效测试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典型案例: Linux /dev/random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023360" cy="3657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与其他等级的对比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PTG.2/3: 不需要随机模型 (因为无法建模)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PTG.2/3: 熵估计更保守 (只使用 min-entropy)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DRG.2/3: 提供真实熵而非计算安全性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可作为 DRG 的熵种子源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886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RNG 架构 (/dev/random &amp; /dev/urandom): BSI委托的长期研究分析了Linux内核RNG，验证了其与NTG.1和DRG.3的一致性。内核版本5.6+采用了新的NPTRNG功能设计。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AIS 31 随机数生成器功能等级标准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随机模型 (Stochastic Model)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TRNG 评估的核心概念 — 用数学方式描述物理噪声源的随机特性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4630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随机模型定义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描述噪声源输出的概率分布模型。例: 抛硬币模型 B(1, p) — 偏向概率为p的独立同分布比特序列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54864" cy="146304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在线测试 (Online Test)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实时监控噪声源是否偏离模型预期。目标: 好区域内低误报率，坏区域内高检测率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54680"/>
            <a:ext cx="54864" cy="1463040"/>
          </a:xfrm>
          <a:prstGeom prst="rect">
            <a:avLst/>
          </a:prstGeom>
          <a:solidFill>
            <a:srgbClr val="9B6C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46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总失效测试 (Total Failure)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566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检测噪声源的完全失效 (如硬件故障)。比在线测试更严格，覆盖更广泛的失效模式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1546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54680"/>
            <a:ext cx="54864" cy="1463040"/>
          </a:xfrm>
          <a:prstGeom prst="rect">
            <a:avLst/>
          </a:prstGeom>
          <a:solidFill>
            <a:srgbClr val="7B3A6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246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启动测试 (Start-up Test)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566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设备上电或复位后执行，在输出随机数之前验证噪声源工作正常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对于 PTG.2 和 PTG.3，随机模型是强制要求 (mandatory)。NTG.1 不需要随机模型。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在线测试与总失效测试原理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36576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在线测试 (Online Test)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持续检测噪声源输出质量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检测统计特性是否偏离随机模型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异常时触发噪声报警 (noise alarm)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不允许输出未通过测试的随机数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关键指标: 低误报率, 高检测率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023360" cy="365760"/>
          </a:xfrm>
          <a:prstGeom prst="rect">
            <a:avLst/>
          </a:prstGeom>
          <a:solidFill>
            <a:srgbClr val="9B6C2C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总失效测试 &amp; 启动测试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总失效测试: 检测噪声源完全失效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比在线测试更严格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启动测试: 上电/复位后立即执行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确保初始状态下噪声源正常工作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三者协同: 全生命周期保障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测试空间划分:  </a:t>
            </a:r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A_good (好区域)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噪声源参数在此区域内应通过测试    </a:t>
            </a:r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A_bad (坏区域)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噪声源参数在此区域内应触发报警    </a:t>
            </a:r>
            <a:pPr indent="0" marL="0">
              <a:buNone/>
            </a:pPr>
            <a:r>
              <a:rPr lang="en-US" sz="10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A_real (实际区域)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噪声源参数的真实分布区域，应完全包含在 A_good 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AIS 31 随机数生成器功能等级标准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数学基础 — 熵与工作量因子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97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9748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Min-Entropy (最小熵)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H_min = -log₂(max(pᵢ))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最保守的熵度量，只考虑最可能出现的值。评估中最常用的指标。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97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2697480" cy="54864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Shannon 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600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-Σ pᵢ · log₂(pᵢ)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20116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信息论标准度量，反映平均不确定性。需要平稳分布假设。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97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51560"/>
            <a:ext cx="2697480" cy="54864"/>
          </a:xfrm>
          <a:prstGeom prst="rect">
            <a:avLst/>
          </a:prstGeom>
          <a:solidFill>
            <a:srgbClr val="9B6C2C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600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H_coll = -log₂(Σ pᵢ²)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20116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基于碰撞概率的熵度量。用于某些特定类型的统计测试。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 Work (猜测工作量)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攻击者以最优策略猜测随机值所需的期望工作量。对给定的成功概率 λ，工作因子 w_λ 量化了猜测难度。min-entropy 与 w_1/2 直接相关。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47472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关键结论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min-entropy 是最保守但也最可靠的熵度量。在安全认证中，当无法精确建模随机源时，推荐使用 min-entropy 作为熵评估依据。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AIS 31 随机数生成器功能等级标准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NIST SP800-90A 一致性分析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文档第5.3节分析了 NIST 批准的 DRBG 设计与 DRG.3 / DRG.4 的一致性关系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SP800-90A DRBG 功能模型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熵源 (Entropy Source)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种子材料 → DRBG 内部状态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状态转移函数 (单向函数)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输出函数 → 随机比特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支持重新播种 (Reseeding)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可选附加输入 (Additional Input)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37760" y="14630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DRBG 安全评估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0" y="19202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详细分析了 Hash DRBG 的安全性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验证了状态转移函数的单向性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确认满足前后向保密要求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统计测试不可区分性验证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结论: 符合条件的 Hash DRBG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可达到 DRG.3 或 DRG.4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8229600" cy="5943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977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对开发者的价值: 可直接引用第5.3节的分析结论作为安全证据，无需自行证明 NIST DRBG 设计的安全性，大幅减轻认证负担。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AIS 31 随机数生成器功能等级标准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 /dev/random 与 /dev/urandom 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BSI 委托的长期研究 (第5.6节)，验证 Linux 内核 RNG 与 AIS 31 功能等级的一致性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02336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NPTRNG 架构 (内核 5.6+)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多种熵源: 键盘/鼠标中断、磁盘I/O、网络中断、RDRAND等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熵池 (Entropy Pool) 收集与混合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CRNG (ChaCha20-based RNG) 作为DRNG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/dev/random: 阻塞式，保证新鲜熵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/dev/urandom: 非阻塞，不保证新鲜熵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37760" y="1463040"/>
            <a:ext cx="384048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一致性对照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874520"/>
          <a:ext cx="3840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组件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等级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状态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Entropy Source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NTG.1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CRNG (DRNG)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DRG.3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待确认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/dev/random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NTG.1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/dev/urandom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DRG.3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114800"/>
            <a:ext cx="8229600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41148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开发者可引用 BSI 的 Linux RNG 研究报告作为其产品中 Linux RNG 组件的安全证据。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AIS 31 随机数生成器功能等级标准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实际应用示例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164592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双噪声二极管 PTRNG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基于两个齐纳二极管的噪声电压差，Gamma分布建模时间间隔，经典的物理真随机设计方案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54864" cy="164592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143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放射性衰变 PTRNG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6002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利用放射性同位素衰变事件的随机时间间隔，物理随机性极好但实现复杂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51560"/>
            <a:ext cx="54864" cy="164592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143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PLL 锁相环噪声源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6002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基于锁相环的抖动噪声，数字化后输出随机比特，适合集成电路实现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54864" cy="164592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Neumann 去偏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4290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经典去偏算法: 将比特对 (0,1)→0, (1,0)→1, (0,0)和(1,1)→丢弃。消除偏向但降低吞吐率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288036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880360"/>
            <a:ext cx="54864" cy="164592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AES-OFB 模式 DRNG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4290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使用AES在输出反馈模式下生成伪随机数，需验证状态转换函数的单向性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288036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880360"/>
            <a:ext cx="54864" cy="164592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在线测试程序示例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4290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卡方拟合优度检验、Coron熵测试、多层级测试流程 (ER1→ER2→ER3) 构成完整在线测试体系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AIS 31 随机数生成器功能等级标准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371600" cy="27432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 31 是德国 BSI 发布的 RNG 安全评估权威标准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定义了三类 RNG：DRNG (确定性)、PTRNG (物理真随机)、NPTRNG (非物理真随机)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六个功能等级：DRG.2 → DRG.3 → DRG.4 → PTG.2 → PTG.3 (最强) → NTG.1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核心技术支柱：随机模型 (Stochastic Model)、熵评估、在线测试 &amp; 总失效测试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 NIST SP800-90A 等国际标准互补，提供标准间一致性分析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 Common Criteria 认证中 RNG 评估提供完整技术依据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8046720" cy="22860"/>
          </a:xfrm>
          <a:prstGeom prst="rect">
            <a:avLst/>
          </a:prstGeom>
          <a:solidFill>
            <a:srgbClr val="00A8CC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PTG.3 是整体安全性最强的功能等级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Matthias Peter &amp; Werner Schindler — BSI — Version 2.35 DRAFT (September 2022)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 31 随机数生成器功能等级标准 - 教学讲解</dc:title>
  <dc:subject>PptxGenJS Presentation</dc:subject>
  <dc:creator>Claude</dc:creator>
  <cp:lastModifiedBy>Claude</cp:lastModifiedBy>
  <cp:revision>1</cp:revision>
  <dcterms:created xsi:type="dcterms:W3CDTF">2026-06-25T01:49:15Z</dcterms:created>
  <dcterms:modified xsi:type="dcterms:W3CDTF">2026-06-25T01:49:15Z</dcterms:modified>
</cp:coreProperties>
</file>